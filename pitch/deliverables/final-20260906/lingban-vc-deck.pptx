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636abb611146f4" /><Relationship Type="http://schemas.openxmlformats.org/officeDocument/2006/relationships/extended-properties" Target="/docProps/app.xml" Id="R46c06004b53c4f2c" /><Relationship Type="http://schemas.openxmlformats.org/officeDocument/2006/relationships/officeDocument" Target="/ppt/presentation.xml" Id="R98fc1bbd107f4e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7bcb8a8c054afa"/>
  </p:sldMasterIdLst>
  <p:notesMasterIdLst>
    <p:notesMasterId xmlns:r="http://schemas.openxmlformats.org/officeDocument/2006/relationships" r:id="R05a7b5274b9740b8"/>
  </p:notesMasterIdLst>
  <p:sldIdLst>
    <p:sldId xmlns:r="http://schemas.openxmlformats.org/officeDocument/2006/relationships" id="256" r:id="R399b1d126a5a4031"/>
    <p:sldId xmlns:r="http://schemas.openxmlformats.org/officeDocument/2006/relationships" id="257" r:id="Rfd91eff81a3f4a08"/>
    <p:sldId xmlns:r="http://schemas.openxmlformats.org/officeDocument/2006/relationships" id="258" r:id="R41baed735c5a4c44"/>
    <p:sldId xmlns:r="http://schemas.openxmlformats.org/officeDocument/2006/relationships" id="259" r:id="R8a9543d69f3f459c"/>
    <p:sldId xmlns:r="http://schemas.openxmlformats.org/officeDocument/2006/relationships" id="260" r:id="R192a7c1100444852"/>
    <p:sldId xmlns:r="http://schemas.openxmlformats.org/officeDocument/2006/relationships" id="261" r:id="R153dcb1919004fc8"/>
    <p:sldId xmlns:r="http://schemas.openxmlformats.org/officeDocument/2006/relationships" id="262" r:id="Re1009374065145ff"/>
    <p:sldId xmlns:r="http://schemas.openxmlformats.org/officeDocument/2006/relationships" id="263" r:id="R21151577f56d4e95"/>
    <p:sldId xmlns:r="http://schemas.openxmlformats.org/officeDocument/2006/relationships" id="264" r:id="Rf69d77693f2e43f9"/>
    <p:sldId xmlns:r="http://schemas.openxmlformats.org/officeDocument/2006/relationships" id="265" r:id="R3f5abc5294b94ea2"/>
    <p:sldId xmlns:r="http://schemas.openxmlformats.org/officeDocument/2006/relationships" id="266" r:id="R58c1fa1c64684da5"/>
    <p:sldId xmlns:r="http://schemas.openxmlformats.org/officeDocument/2006/relationships" id="267" r:id="Re76948ac061147df"/>
    <p:sldId xmlns:r="http://schemas.openxmlformats.org/officeDocument/2006/relationships" id="268" r:id="R624b3d25b5d144fe"/>
    <p:sldId xmlns:r="http://schemas.openxmlformats.org/officeDocument/2006/relationships" id="269" r:id="Rd2e46413c5734c7a"/>
    <p:sldId xmlns:r="http://schemas.openxmlformats.org/officeDocument/2006/relationships" id="270" r:id="R09c85fa3fb57458b"/>
    <p:sldId xmlns:r="http://schemas.openxmlformats.org/officeDocument/2006/relationships" id="271" r:id="Rea0c5893c640443e"/>
    <p:sldId xmlns:r="http://schemas.openxmlformats.org/officeDocument/2006/relationships" id="272" r:id="R4aa1c5536c194d71"/>
    <p:sldId xmlns:r="http://schemas.openxmlformats.org/officeDocument/2006/relationships" id="273" r:id="R526e1ab924a54a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d27052acaf4a8f" /><Relationship Type="http://schemas.openxmlformats.org/officeDocument/2006/relationships/slideMaster" Target="/ppt/slideMasters/slideMaster1.xml" Id="R147bcb8a8c054afa" /><Relationship Type="http://schemas.openxmlformats.org/officeDocument/2006/relationships/notesMaster" Target="/ppt/notesMasters/notesMaster1.xml" Id="R05a7b5274b9740b8" /><Relationship Type="http://schemas.openxmlformats.org/officeDocument/2006/relationships/presProps" Target="/ppt/presProps.xml" Id="Red348e32a2414ade" /><Relationship Type="http://schemas.openxmlformats.org/officeDocument/2006/relationships/tableStyles" Target="/ppt/tableStyles.xml" Id="Rb1a8596e046b45c0" /><Relationship Type="http://schemas.openxmlformats.org/officeDocument/2006/relationships/slide" Target="/ppt/slides/slide1.xml" Id="R399b1d126a5a4031" /><Relationship Type="http://schemas.openxmlformats.org/officeDocument/2006/relationships/slide" Target="/ppt/slides/slide2.xml" Id="Rfd91eff81a3f4a08" /><Relationship Type="http://schemas.openxmlformats.org/officeDocument/2006/relationships/slide" Target="/ppt/slides/slide3.xml" Id="R41baed735c5a4c44" /><Relationship Type="http://schemas.openxmlformats.org/officeDocument/2006/relationships/slide" Target="/ppt/slides/slide4.xml" Id="R8a9543d69f3f459c" /><Relationship Type="http://schemas.openxmlformats.org/officeDocument/2006/relationships/slide" Target="/ppt/slides/slide5.xml" Id="R192a7c1100444852" /><Relationship Type="http://schemas.openxmlformats.org/officeDocument/2006/relationships/slide" Target="/ppt/slides/slide6.xml" Id="R153dcb1919004fc8" /><Relationship Type="http://schemas.openxmlformats.org/officeDocument/2006/relationships/slide" Target="/ppt/slides/slide7.xml" Id="Re1009374065145ff" /><Relationship Type="http://schemas.openxmlformats.org/officeDocument/2006/relationships/slide" Target="/ppt/slides/slide8.xml" Id="R21151577f56d4e95" /><Relationship Type="http://schemas.openxmlformats.org/officeDocument/2006/relationships/slide" Target="/ppt/slides/slide9.xml" Id="Rf69d77693f2e43f9" /><Relationship Type="http://schemas.openxmlformats.org/officeDocument/2006/relationships/slide" Target="/ppt/slides/slide10.xml" Id="R3f5abc5294b94ea2" /><Relationship Type="http://schemas.openxmlformats.org/officeDocument/2006/relationships/slide" Target="/ppt/slides/slide11.xml" Id="R58c1fa1c64684da5" /><Relationship Type="http://schemas.openxmlformats.org/officeDocument/2006/relationships/slide" Target="/ppt/slides/slide12.xml" Id="Re76948ac061147df" /><Relationship Type="http://schemas.openxmlformats.org/officeDocument/2006/relationships/slide" Target="/ppt/slides/slide13.xml" Id="R624b3d25b5d144fe" /><Relationship Type="http://schemas.openxmlformats.org/officeDocument/2006/relationships/slide" Target="/ppt/slides/slide14.xml" Id="Rd2e46413c5734c7a" /><Relationship Type="http://schemas.openxmlformats.org/officeDocument/2006/relationships/slide" Target="/ppt/slides/slide15.xml" Id="R09c85fa3fb57458b" /><Relationship Type="http://schemas.openxmlformats.org/officeDocument/2006/relationships/slide" Target="/ppt/slides/slide16.xml" Id="Rea0c5893c640443e" /><Relationship Type="http://schemas.openxmlformats.org/officeDocument/2006/relationships/slide" Target="/ppt/slides/slide17.xml" Id="R4aa1c5536c194d71" /><Relationship Type="http://schemas.openxmlformats.org/officeDocument/2006/relationships/slide" Target="/ppt/slides/slide18.xml" Id="R526e1ab924a54a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40a9d38efe4b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c03f2005774bca" /><Relationship Type="http://schemas.openxmlformats.org/officeDocument/2006/relationships/notesMaster" Target="/ppt/notesMasters/notesMaster1.xml" Id="R018746ebce8a4d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252b18b4d34167" /><Relationship Type="http://schemas.openxmlformats.org/officeDocument/2006/relationships/notesMaster" Target="/ppt/notesMasters/notesMaster1.xml" Id="R88a46af7583642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e174ec82a548bc" /><Relationship Type="http://schemas.openxmlformats.org/officeDocument/2006/relationships/notesMaster" Target="/ppt/notesMasters/notesMaster1.xml" Id="R7366f35bd2fb42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eee783ff2a46f7" /><Relationship Type="http://schemas.openxmlformats.org/officeDocument/2006/relationships/notesMaster" Target="/ppt/notesMasters/notesMaster1.xml" Id="R5da8a670a70149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66a277e4374609" /><Relationship Type="http://schemas.openxmlformats.org/officeDocument/2006/relationships/notesMaster" Target="/ppt/notesMasters/notesMaster1.xml" Id="R0c07499255e24f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30cc5cc5e942e5" /><Relationship Type="http://schemas.openxmlformats.org/officeDocument/2006/relationships/notesMaster" Target="/ppt/notesMasters/notesMaster1.xml" Id="R0d8dda6e82fd4d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2661d5e2224b51" /><Relationship Type="http://schemas.openxmlformats.org/officeDocument/2006/relationships/notesMaster" Target="/ppt/notesMasters/notesMaster1.xml" Id="R4a86cd1d170c42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c66dac192e4ad1" /><Relationship Type="http://schemas.openxmlformats.org/officeDocument/2006/relationships/notesMaster" Target="/ppt/notesMasters/notesMaster1.xml" Id="R4fbfee070da042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161659bcce40b0" /><Relationship Type="http://schemas.openxmlformats.org/officeDocument/2006/relationships/notesMaster" Target="/ppt/notesMasters/notesMaster1.xml" Id="R2579b87a4f7c47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aa8cc4c25e4425" /><Relationship Type="http://schemas.openxmlformats.org/officeDocument/2006/relationships/notesMaster" Target="/ppt/notesMasters/notesMaster1.xml" Id="Rdf56648b56f544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1d1f8d11b54d62" /><Relationship Type="http://schemas.openxmlformats.org/officeDocument/2006/relationships/notesMaster" Target="/ppt/notesMasters/notesMaster1.xml" Id="R314164e9061d44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88e31f8c264a9a" /><Relationship Type="http://schemas.openxmlformats.org/officeDocument/2006/relationships/notesMaster" Target="/ppt/notesMasters/notesMaster1.xml" Id="Reda6741fa90742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a73dea92c54d68" /><Relationship Type="http://schemas.openxmlformats.org/officeDocument/2006/relationships/notesMaster" Target="/ppt/notesMasters/notesMaster1.xml" Id="Rb752212b734447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d9fd6940ce4ef6" /><Relationship Type="http://schemas.openxmlformats.org/officeDocument/2006/relationships/notesMaster" Target="/ppt/notesMasters/notesMaster1.xml" Id="Rdaca2ac8526541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c34beb0a2443a9" /><Relationship Type="http://schemas.openxmlformats.org/officeDocument/2006/relationships/notesMaster" Target="/ppt/notesMasters/notesMaster1.xml" Id="R8aabe44febd44c7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2dc83a1ede4116" /><Relationship Type="http://schemas.openxmlformats.org/officeDocument/2006/relationships/notesMaster" Target="/ppt/notesMasters/notesMaster1.xml" Id="Rd0e335f827db426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6741252e5d4262" /><Relationship Type="http://schemas.openxmlformats.org/officeDocument/2006/relationships/notesMaster" Target="/ppt/notesMasters/notesMaster1.xml" Id="R46833f1000c748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4a9397beaa4bba" /><Relationship Type="http://schemas.openxmlformats.org/officeDocument/2006/relationships/notesMaster" Target="/ppt/notesMasters/notesMaster1.xml" Id="R5fa60b995b564f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灵伴LINGBAN暂定为项目品牌，晶鼠Crystal Mouse是首个系列，名称和商标仍待检索。我们希望用透明鼠标中的原创天空城堡，让主动式办公伙伴成为手边可见的存在。先帮助员工接住任务，再把本人批准的业务结果交给团队。本项目处于创始前验证阶段，没有可披露的客户、订单、收入或已完成硬件验证。今天希望讨论的是一套可证伪的产品路径和建议融资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想一名项目协调者：下午还在等确认，傍晚回复到了，却没有回到交接清单。传统通知告诉他“有一条消息”，聊天式AI又要求他重新解释上下文。我们的需求假设是：当有新证据足以改变下一步时，用户愿意收到一次有理由、可以延后的轻提示。效率价值用真实任务的采纳和完成来验证，当前没有效率提升实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合成场景。用户只授权一个交接任务及必要资料。系统等待新证据，安静窗口结束后通过灯光轻提示。触摸只打开电脑上的解释和草稿，不直接替用户执行。用户选择确认、稍后或者忽略。只有确认后才复制或导出结果，企业只收到本人另行批准分享的交接内容。我们跟踪本人是否认为有帮助，避免以提醒次数作为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鼠标高频接触、自然可触达，有机会在屏幕通知之外提供低强度提示。透明城堡让状态可见，也可能带来传播辨识度。但高端鼠标用户可能不愿更换，有线、手型和灯光打扰也会降低接受度。因此用20人随机交叉试验，每人分别体验一周相同软件通知和一周灯光触摸，保持内容一致。门槛是确认率绝对提升至少15个百分点、打扰评分不变差，且至少8人在299元真实价格愿意购买或付明确可退订金。没有硬件增量就转向软件加可选配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首款核心版沿用成熟USB HID有线鼠标底座，加独立ESP32-S3交互模块，负责灯、触摸和小屏。电脑承担AI，ESP32不运行大模型。原创微型城堡是静态摆件，无复杂运动机构。首期无摄像头、麦克风、生理传感，舒适度提示只基于用户设定时间。设备应有可见状态与物理静音控制，任何未来采集器都须另行评估并有遮挡。双线或合规hub可作为原型取舍，单线化要做供电、兼容和EMC检查。此图为硬件会话原创三维建模概念渲染，不是实物样机。图源hardware/renders/hero_raw.png，导入时裁去空白背景并保留产品主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来源：docs/business/business-plan.md（2026-09-06）；AGENTS.md；hardware/renders/hero_raw.png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稿以电脑端本地规则Agent和合成数据演示为验收范围，已实现任务证据、专注静默、审批与持久化。批准只写本地outbox，没有外部发送器。软件完成记录说明可选模型适配由主控独立验收，本稿不覆盖或验证其实现与模型调用。设备状态可模拟，软件完成记录已报告LB1集成代码与模拟测试修复完成，仍待实物验收。本次融资稿任务未复跑软件或固件测试，未接实机、未烧录或验证端到端硬件连通。MCP按2025-06-18实现每行UTF-8 stdio JSON-RPC 2.0，覆盖initialize、notifications/initialized、ping、tools/list、tools/call和错误响应。四个工具为tasks_list、events_ingest、action_propose、enterprise_summary，转发本地HTTP服务复用角色鉴权，不提供自动批准执行。A2A按0.3.0实现Agent Card、message/send、tasks/get，只支持blocking=true的新建文本摘要任务。submitted、working、completed在同步事务内写审计，终态与文本artifact持久化，查询按身份隔离，messageId按身份幂等。软件验收记录覆盖真实stdio/HTTP鉴权、握手与错误、任务生命周期/归属/重试和持久化；本融资稿同步只核对记录与源码，不将此称为官方认证。MCP未覆盖resources、prompts、sampling、elicitation、roots、subscriptions、cancellation、进度、分页、listChanged、HTTP transport、OAuth与官方SDK端到端互通。A2A未覆盖流式/SSE、取消、重订阅、推送、异步、多轮上下文、文件/数据part、扩展metadata、gRPC、HTTP+JSON binding、签名或扩展Agent Card及OAuth。普通REST接口不冒充MCP/A2A，软件子集测试不代表实机连通。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来源：software/COMPLETION.md；docs/software/README.md；docs/software/protocols.md；software/lingban/protocols.py；software/lingban/mcp.py；software/test-output/latest-tests.txt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任务原文、私聊、浏览轨迹不进入企业看板，雇佣关系中的一次同意不等于一切数据共享。企业看到员工逐项批准的业务结果，以及至少5名不同授权参与者在固定周期内的汇总。不足人数不显示，禁止个人钻取，还须防止小切片和相邻时间窗口差分推断。人数阈值不是匿名化证明。用户需要能撤回授权和删除。我们明确禁止秘密录音摄像、键盘记录、绕过同意、情绪和生理信息评定员工，以及自动雇佣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来源：docs/business/business-plan.md（2026-09-06）；docs/research/findings.md（官方来源快照，2026-09-06）；个人信息保护法第5-7、13、15、24、28-29条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价格是人民币含税目标价。99元是普通透明鼠标，无AI伴随模块承诺。199元是灯触摸无屏版。299元是首发唯一制造版本，保留灯、触摸和小屏。499元套装和899元企业试点包在需求与验收成立后再推出，服务和支持均有明确期限与额度。1499和3999元仅为半年后生态探索，不接预售、不计收入。现阶段不同时采购五套模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研究截至2026年9月6日。Microduck是Pollen Robotics官方公开的小型双足机器人项目，官方称约25厘米、800克和15个舵机。我们能借鉴可见人格与可维护架构，官方产品页标注入门预售价399美元，税运另计，2026年8月27日开启预售，但实际成交、订单或众筹成绩未证实。Violoop官网为预发布预约，展示HDMI输入、USB-HID和实体确认键，显示399美元起、预约优惠后369美元起。本次未证实交付或销量，算力和性能属于厂商主张。灵伴复用电脑算力降低硬件复杂度，代价是依赖本地安装、系统权限和电脑在线。未使用其视觉素材或未经许可的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来源：docs/research/findings.md（官方来源快照，2026-09-06）；https://github.com/pollen-robotics/microduck ；https://pollen-robotics.com/microduck ；https://violoop.ai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没有足够可靠的官方中国AI鼠标细分销量，不使用泛AI万亿市场作为依据。第一阶段目标名单为200名个人和30个小团队，预计试用转化率20%与10%都只是销售假设，分别对应40人和3个团队的潜在试用。先安排20名自愿研究参与者，再争取3个10到30人的设计伙伴团队。下一层市场规模需要城市或行业公司数、适配工位数、允许安装Agent比例和预算接受度，每一项都有调查出处。目前没有已签客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阶段采用小批直销，不依赖尚未存在的订阅补贴硬件。1000台299元产品对应29.9万元含税商品流水，不是ARR。服务访谈价格为个人19元每月、团队39元每席每月，模型调用量、单位价格与退款未实测前不卖无限额度。只有100名持续支付19元的用户才对应2.28万元年化订阅毛额，当前留存尚未验证。个人可以只用离线规则或自己的模型凭据。企业支持按范围和额度交付，优先防止长账期与实施人力侵蚀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制造成本与现金贡献直接取商业模型S299行。当前1000台计划批量口径，完整制造成本108元，按含税价预留13%销项税且不抵扣进项，退款按售价4%、渠道3%、质保按制造成本2%，另含履约、支持、获客和退货物流。每台现金贡献66.51元，贡献率22.24%。制造目标良率和损耗口径须以商业成本定义为准，未取得供应商书面报价。月固定支出5.5万元时，约需827台该版本的贡献覆盖固定费用，尚不覆盖12万元前期NRE。不能将此处现金贡献当成净利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来源：docs/business/business-plan.md（2026-09-06）；docs/business/financial-sku-economics.csv；financial-assumptions.csv；outline.md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天目标为5台可重复演示原型，预算上限估算1.5万元，不代表已批准支出。8到30天在累计12万元NRE内分批完成20人试用、10台EVT以及合规适用性和采购确认。30天只是争取试销的窗口：必须完成硬件、用户、安全合规和小批验收，才考虑50到100台受控交付，若不满足门槛就延后至M2至M3。目标D7仍启用比例至少60%，每周有帮助提醒用户至少50%，小批一次合格率至少95%。不能承诺7天量产或30天必出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来源：docs/business/business-plan.md（2026-09-06）；docs/research/findings.md（官方来源快照，2026-09-06）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1证明任务闭环，M2受控交付，M3依据真实使用决定是否继续鼠标。M4再开放灯、触摸和状态协议及一个参考配件。M5邀请少量开发者做经过人工审核的只读插件。M6才决定199元无屏版或桌面灯是否立项。分批累计1000台是验证目标，财务基准情景截至M6为910台，不能把目标当预测。每个新硬件必须具备独立需求、BOM、售后责任和现金门槛。1499与3999元生态概念不接预售，不计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来源：docs/business/business-plan.md（2026-09-06）；docs/business/financial-scenarios.csv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责任岗位设计，不是已有团队履历。当前没有可核验的创始团队背景可以披露。核心计划按三人团队加按次外包推进：产品与商业负责人、本地Agent工程师、硬件与供应链负责人。外部按需要采购工业设计、测试、隐私法律和认证能力。本轮精简验证模型月固定成本5.5万元，其中人员4.2万元，属于预算假设。关键岗位到位和职责落实是融资后释放扩张预算的前置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来源：docs/business/business-plan.md（2026-09-06）；docs/business/financial-assumptions.csv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融资500万元是建议目标，没有融资承诺或已到账资金。本轮融资用途建议为：产品和Agent研发200万元，硬件工程、试制和合规100万元，用户验证与设计伙伴60万元，量产准备及周转80万元，预备金60万元，合计500万元。不是一次性批准支出。先按BP的1.5万元原型和累计12万元NRE门槛释放，再凭需求、合规、留存和现金证据扩展。商业计划第11节已列明这套融资建议，并明确500万元并非用户指定金额。财务CSV是独立的60万元假设起始现金模型，NRE12万元、月固定支出5.5万元。基准10个月含税流水158.09万元，累计亏损29.02万元，期末现金60494.30元（约6.05万元），最低现金4.59万元。500万元扩张预算尚无同口径分月现金模型，不报告其跑道或回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来源：docs/business/business-plan.md（2026-09-06）第11节；docs/business/financial-model.md；docs/business/financial-summary.csv；docs/business/financial-assumptions.csv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风险首先是任务价值和硬件增量不成立，其次是人体工学、材料耐久和批次质量，以及权限误用和现金压力。如果20人中D7仍启用低于40%，两轮改进无改善就停止备货。连续两批退款大于10%或者制造一次良率低于90%，冻结新采购。任何未经授权外传或者外部动作都要求立即停用相关功能并修复、通知受影响者。未来90天现金预测转负时，停止非必要NRE和营销，优先完成交付、退款与保修。竞争方容易复制单个提醒功能，壁垒要通过可靠授权、低打扰策略和可重复任务价值积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希望投资人共同验证的核心判断是：员工是否因为少一次遗漏、顺利完成一次交接而继续启用。先把299元晶鼠和本地Agent闭环做实，再以明确授权的结果支持团队。当前讨论的500万元是融资建议，后续预算应按里程碑释放。第10个月设为战略检查点，选择可以是继续经营、融资、合作或者有序停止。“10个月1亿美元退出”只能作为极端目标情景，没有估值依据、投资承诺或收购方保证，也不用于现金流模型。下一步的证据是可重复的5台原型、20人试用及获验收的小批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来源：docs/business/business-plan.md（2026-09-06）；用户融资叙事要求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7af23274840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b5c83a33644e3a" /><Relationship Type="http://schemas.openxmlformats.org/officeDocument/2006/relationships/slideLayout" Target="/ppt/slideLayouts/slideLayout1.xml" Id="R15c03584fc7947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c03584fc7947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39111459c40fa" /><Relationship Type="http://schemas.openxmlformats.org/officeDocument/2006/relationships/image" Target="/ppt/media/image.png" Id="Rc34802d55fc740b3" /><Relationship Type="http://schemas.openxmlformats.org/officeDocument/2006/relationships/notesSlide" Target="/ppt/notesSlides/notesSlide1.xml" Id="Rc3a596e0bed541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757ce657740e4" /><Relationship Type="http://schemas.openxmlformats.org/officeDocument/2006/relationships/notesSlide" Target="/ppt/notesSlides/notesSlide2.xml" Id="R4905408f73d942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b03ccfa9e4f84" /><Relationship Type="http://schemas.openxmlformats.org/officeDocument/2006/relationships/notesSlide" Target="/ppt/notesSlides/notesSlide3.xml" Id="Rc7d7dd5b9e3f40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fd160b75c429f" /><Relationship Type="http://schemas.openxmlformats.org/officeDocument/2006/relationships/notesSlide" Target="/ppt/notesSlides/notesSlide4.xml" Id="R747eeaf8f7af4b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0758263df42d2" /><Relationship Type="http://schemas.openxmlformats.org/officeDocument/2006/relationships/image" Target="/ppt/media/image2.png" Id="Reb00ef08fc774bb7" /><Relationship Type="http://schemas.openxmlformats.org/officeDocument/2006/relationships/notesSlide" Target="/ppt/notesSlides/notesSlide5.xml" Id="Re9a0a99f255745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b3e60ef744023" /><Relationship Type="http://schemas.openxmlformats.org/officeDocument/2006/relationships/notesSlide" Target="/ppt/notesSlides/notesSlide6.xml" Id="Rde9547ed58d443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4ba2eca314a0b" /><Relationship Type="http://schemas.openxmlformats.org/officeDocument/2006/relationships/notesSlide" Target="/ppt/notesSlides/notesSlide7.xml" Id="R2e0cc138d93c49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9ed15f0b44c63" /><Relationship Type="http://schemas.openxmlformats.org/officeDocument/2006/relationships/notesSlide" Target="/ppt/notesSlides/notesSlide8.xml" Id="Red42484a76cc4c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6bde85d1b4218" /><Relationship Type="http://schemas.openxmlformats.org/officeDocument/2006/relationships/notesSlide" Target="/ppt/notesSlides/notesSlide9.xml" Id="R0f89dcba34c04d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0350fee204969" /><Relationship Type="http://schemas.openxmlformats.org/officeDocument/2006/relationships/notesSlide" Target="/ppt/notesSlides/notesSlide10.xml" Id="R472875d9d1f44a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a5df48a9a47c6" /><Relationship Type="http://schemas.openxmlformats.org/officeDocument/2006/relationships/notesSlide" Target="/ppt/notesSlides/notesSlide11.xml" Id="R909ae73499c343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48604fc9040be" /><Relationship Type="http://schemas.openxmlformats.org/officeDocument/2006/relationships/notesSlide" Target="/ppt/notesSlides/notesSlide12.xml" Id="Rfd7221130d0d4c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472a9dfa6448e" /><Relationship Type="http://schemas.openxmlformats.org/officeDocument/2006/relationships/notesSlide" Target="/ppt/notesSlides/notesSlide13.xml" Id="Rfdcfca9c34df4d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901bc8cd44179" /><Relationship Type="http://schemas.openxmlformats.org/officeDocument/2006/relationships/notesSlide" Target="/ppt/notesSlides/notesSlide14.xml" Id="Rf2123ffea27f4f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bc13c2b9749c6" /><Relationship Type="http://schemas.openxmlformats.org/officeDocument/2006/relationships/notesSlide" Target="/ppt/notesSlides/notesSlide15.xml" Id="Ra482da0c041f40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77d3ca065469f" /><Relationship Type="http://schemas.openxmlformats.org/officeDocument/2006/relationships/notesSlide" Target="/ppt/notesSlides/notesSlide16.xml" Id="Rac918198c79441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f2e3bc291429b" /><Relationship Type="http://schemas.openxmlformats.org/officeDocument/2006/relationships/notesSlide" Target="/ppt/notesSlides/notesSlide17.xml" Id="R393f1ea2ed374d6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40bbaf3e0441a" /><Relationship Type="http://schemas.openxmlformats.org/officeDocument/2006/relationships/notesSlide" Target="/ppt/notesSlides/notesSlide18.xml" Id="Rd28de556ac1040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A033D-BE4A-4E21-B20F-025D8AC2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05086-4E3F-4F7F-8255-6A00A081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创始前验证阶段   2026.09   品牌与商标待检索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4A0FB-7FBE-4587-9B8F-75F31E40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00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灵伴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48B70-819F-4A76-A265-B58D8212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LINGBAN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12FD1-EAF6-4F87-A956-4DFB4419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手边的主动式办公伙伴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F3F7C-F684-4D4D-BBCA-BB321CDB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晶鼠 Crystal Mouse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802d55fc740b3"/>
          <a:stretch xmlns:a="http://schemas.openxmlformats.org/drawingml/2006/main"/>
        </p:blipFill>
        <p:spPr>
          <a:xfrm xmlns:a="http://schemas.openxmlformats.org/drawingml/2006/main">
            <a:off x="5598583" y="600075"/>
            <a:ext cx="6138333" cy="5524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35763-1008-49D6-B078-551CCFAD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6578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原创产品概念示意</a:t>
            </a:r>
          </a:p>
        </p:txBody>
      </p:sp>
    </p:spTree>
    <p:extLst>
      <p:ext uri="{BB962C8B-B14F-4D97-AF65-F5344CB8AC3E}">
        <p14:creationId xmlns:p14="http://schemas.microsoft.com/office/powerpoint/2010/main" val="438015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279DE-B268-4702-A023-3A59978B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工作中的下一步，常常等不到人来追问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1CE68-FABD-4E31-BFDA-BF446CDC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8A139-CE3E-447A-BC44-14E1618F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3B447-F268-46D4-9E5B-68512F3D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需求假设，尚无访谈或效率实绩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B8C3F-C45C-4A53-B10A-4B04CFE1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17:40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DF009-628D-4489-9C85-1950A579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回复已经到了</a:t>
            </a:r>
          </a:p>
          <a:p xmlns:a="http://schemas.openxmlformats.org/drawingml/2006/main">
            <a:pPr>
              <a:defRPr sz="330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交接仍然停在原地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EE7F6-0E2C-4B27-9B5B-68E79E0E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943100"/>
            <a:ext cx="442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任务跨应用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87E97-1CDA-4C6D-9A0F-1693841A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66975"/>
            <a:ext cx="4429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截止时间、文档和等待状态</a:t>
            </a:r>
          </a:p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缺少同一个任务上下文。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78C69-019F-4E8F-A5BC-0C866162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790950"/>
            <a:ext cx="442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提醒缺少理由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6C123-0137-4129-A2BA-D81CB5A6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314825"/>
            <a:ext cx="4429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用户需要知道发生了什么变化，</a:t>
            </a:r>
          </a:p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以及现在是否值得处理。</a:t>
            </a:r>
          </a:p>
        </p:txBody>
      </p:sp>
    </p:spTree>
    <p:extLst>
      <p:ext uri="{BB962C8B-B14F-4D97-AF65-F5344CB8AC3E}">
        <p14:creationId xmlns:p14="http://schemas.microsoft.com/office/powerpoint/2010/main" val="8382551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BA2A04-7BF1-424E-AE35-7388C0A3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一次主动协作的完整故事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8D854-EE82-4D4C-9922-CAF6C8EB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CA706-438B-48C7-8787-E60AD521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C191F-DBE1-4720-9966-A040FE1C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合成场景与拟实现交互，现场演示需清楚标识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0509E-45F7-48B9-A249-D80FB03A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7B8E6-C2B6-4D75-B03E-6DC3476F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43075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授权任务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BD788-57FC-4491-B97C-829CE104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716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仅选择这次交接的资料与截止时间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5A878-8675-4CF4-9832-909E51F9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71725"/>
            <a:ext cx="976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16A6B-FBDC-4B76-B64C-904881BC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563F9-EA5D-4791-8766-6FFEA076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527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等待新证据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83142-59FA-492D-A52D-DEB0863A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812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相关回复解除阻塞，安静窗口结束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954D0-3EA1-490C-9279-6F4A6B81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81350"/>
            <a:ext cx="976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0C129-9D5D-4A8F-9FB5-ECA6754F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81517-4E08-4855-99C9-B0AC3CBA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62325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轻提示与解释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74EFC-4332-4D1C-A507-0D6AF51D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909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灯光提示，触摸后展示依据及交接草稿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1277A-7462-4501-983C-B8869F14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90975"/>
            <a:ext cx="976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853DE-C022-4AA9-BB82-DA113B1F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9EC81-BAFF-40EB-ADEA-FC90AA05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719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本人决定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A34CF2-A544-4A27-A855-332C2055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005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确认、稍后或忽略，审批后复制或导出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1F304-2FD1-40EC-94EA-79863053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00600"/>
            <a:ext cx="976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C07E1-488A-43C6-BB48-637A75B2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399FB6-A0AE-4ADB-8C57-EC2CDBFF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81575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明确分享结果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F6A88-0B80-4292-B6D1-BA821639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0101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本人逐项批准业务交付物，个人回顾私有</a:t>
            </a:r>
          </a:p>
        </p:txBody>
      </p:sp>
    </p:spTree>
    <p:extLst>
      <p:ext uri="{BB962C8B-B14F-4D97-AF65-F5344CB8AC3E}">
        <p14:creationId xmlns:p14="http://schemas.microsoft.com/office/powerpoint/2010/main" val="109509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7E5E9-08AE-42CA-8523-EEE1B039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鼠标的价值需要独立证明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25F03-40C1-47A9-822C-DE337FD8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E4367-2316-4B19-BACC-155AB942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F7381-47B2-419F-A2DD-4CDD7487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20人小样本仅作方向性验证，不宣称统计显著或普适效率提升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F2AA7-F09C-4F63-8AE9-37746A97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手边可见、触手可及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6A425-6E75-42ED-8576-C45E63D3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57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低亮度灯表达状态，触摸后再展开信息。</a:t>
            </a:r>
          </a:p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外观吸引首次尝试，任务价值决定留存。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15041-1AC3-4199-8091-5AC1E685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B5C36-27B9-4A29-89E6-783C3A0E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20人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60C33-8562-494B-A054-AB11C5BC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随机交叉体验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8B5B6-EC3B-4C62-986B-E9C8627E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00475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≥15个百分点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CA54B-0C9A-44E0-872B-D247BE87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67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硬件确认率绝对提升目标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E7743-9177-4EC2-9EE0-5F3572E2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0047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≥8人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AE822-F5DE-4486-AA3B-7A572C18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672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299元购买意愿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6621A-DE2F-4D43-B4F0-2F7D248A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若增量不成立，停止为硬件差异压库存。</a:t>
            </a:r>
          </a:p>
        </p:txBody>
      </p:sp>
    </p:spTree>
    <p:extLst>
      <p:ext uri="{BB962C8B-B14F-4D97-AF65-F5344CB8AC3E}">
        <p14:creationId xmlns:p14="http://schemas.microsoft.com/office/powerpoint/2010/main" val="2311952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96F8C-B025-480C-99F4-A7FF0135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透明晶鼠，保留日常鼠标的可靠性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28B6A-7542-4246-8F27-FF8D46D3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A87EF-FFDF-463A-9DE6-6DB95C6A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19938-DDB5-4A51-AF03-B5D23D0F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原创概念示意，尚无实物打样、板级验证、量产或认证完成证据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0ef08fc774bb7"/>
          <a:stretch xmlns:a="http://schemas.openxmlformats.org/drawingml/2006/main"/>
        </p:blipFill>
        <p:spPr>
          <a:xfrm xmlns:a="http://schemas.openxmlformats.org/drawingml/2006/main">
            <a:off x="1047499" y="1704975"/>
            <a:ext cx="4705851" cy="42576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94124-F6A5-41AC-ACA2-07F3899C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762125"/>
            <a:ext cx="461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299元首发核心版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C8735-8422-46B6-AA55-26E60C49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86000"/>
            <a:ext cx="4619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透明外壳与原创静态城堡</a:t>
            </a:r>
          </a:p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RGB灯、触摸与小屏状态显示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6A280-F4EF-4617-AC5F-E27A16FF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562350"/>
            <a:ext cx="461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成熟HID底座＋独立交互模块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BB009-42EB-4ECF-84AC-9C252269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86225"/>
            <a:ext cx="4619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AI运行于电脑，HID保持独立。</a:t>
            </a:r>
          </a:p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小屏仅显示简化状态，不存任务原文。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E0028-E6E5-415C-A614-0EF338E1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5245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物理静音与状态指示为设计要求</a:t>
            </a:r>
          </a:p>
        </p:txBody>
      </p:sp>
    </p:spTree>
    <p:extLst>
      <p:ext uri="{BB962C8B-B14F-4D97-AF65-F5344CB8AC3E}">
        <p14:creationId xmlns:p14="http://schemas.microsoft.com/office/powerpoint/2010/main" val="3589806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CC407-AED7-47E5-B4B1-851DFDFC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Agent架构与协议实现子集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36FEB-DDDC-4611-927D-9B79F282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6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29B86-2237-46F8-8AFC-676A1E1B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C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A5C4C6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695AD-0F6F-4AF2-8744-C80DD2DC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D2C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B6D2CE"/>
                </a:solidFill>
                <a:latin typeface="Hiragino Sans GB"/>
                <a:ea typeface="Hiragino Sans GB"/>
                <a:cs typeface="Hiragino Sans GB"/>
              </a:rPr>
              <a:t>本地合成演示子集，非官方互通或认证。LB1待实机验证、未验证硬件连通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30012-9F65-4E88-92B0-C95418A8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26289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91C56-97E0-4907-A996-F431C2E3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669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CE5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8CE5D0"/>
                </a:solidFill>
                <a:latin typeface="Hiragino Sans GB"/>
                <a:ea typeface="Hiragino Sans GB"/>
                <a:cs typeface="Hiragino Sans GB"/>
              </a:rPr>
              <a:t>设备交互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88EF5-0EC2-4814-BB14-B99F531B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90775"/>
            <a:ext cx="2266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HID底座独立设计</a:t>
            </a:r>
          </a:p>
          <a:p xmlns:a="http://schemas.openxmlformats.org/drawingml/2006/main">
            <a:pPr>
              <a:def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灯／触摸／小屏可模拟</a:t>
            </a:r>
          </a:p>
          <a:p xmlns:a="http://schemas.openxmlformats.org/drawingml/2006/main">
            <a:pPr>
              <a:def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LB1待实机验证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73531-51E7-4299-BF8A-4E9BBB5E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04975"/>
            <a:ext cx="462915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4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F843C-6C3B-4F20-BE46-6CAEFC24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86690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CE5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8CE5D0"/>
                </a:solidFill>
                <a:latin typeface="Hiragino Sans GB"/>
                <a:ea typeface="Hiragino Sans GB"/>
                <a:cs typeface="Hiragino Sans GB"/>
              </a:rPr>
              <a:t>电脑本地规则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1502B-3A27-467F-AF16-41D6E7E6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390775"/>
            <a:ext cx="4267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任务与证据、专注静默</a:t>
            </a:r>
          </a:p>
          <a:p xmlns:a="http://schemas.openxmlformats.org/drawingml/2006/main">
            <a:pPr>
              <a:def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人工审批只写本地outbox</a:t>
            </a:r>
          </a:p>
          <a:p xmlns:a="http://schemas.openxmlformats.org/drawingml/2006/main">
            <a:pPr>
              <a:def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无外部发送，模型适配另验收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F5790-707A-4B4B-BE72-A9215E4A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04975"/>
            <a:ext cx="276225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4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8C1C4-BEEB-40F9-884F-CEE5436E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669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CE5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8CE5D0"/>
                </a:solidFill>
                <a:latin typeface="Hiragino Sans GB"/>
                <a:ea typeface="Hiragino Sans GB"/>
                <a:cs typeface="Hiragino Sans GB"/>
              </a:rPr>
              <a:t>本地授权服务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08631-BE4D-4FFF-81A1-8516E8E7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90775"/>
            <a:ext cx="24003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员工／企业角色鉴权</a:t>
            </a:r>
          </a:p>
          <a:p xmlns:a="http://schemas.openxmlformats.org/drawingml/2006/main">
            <a:pPr>
              <a:def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明确提交的业务聚合</a:t>
            </a:r>
          </a:p>
          <a:p xmlns:a="http://schemas.openxmlformats.org/drawingml/2006/main">
            <a:pPr>
              <a:def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企业连接器待接入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63628-96F7-4160-AE1E-54137F2B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E5D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BE90C-5CBD-41BF-8133-F8B50D50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E5D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C522B-548D-4547-A2E5-492B14D2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E5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8CE5D0"/>
                </a:solidFill>
                <a:latin typeface="Hiragino Sans GB"/>
                <a:ea typeface="Hiragino Sans GB"/>
                <a:cs typeface="Hiragino Sans GB"/>
              </a:rPr>
              <a:t>MCP 2025-06-18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C864F-2745-41F7-B501-4686614A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5286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stdio JSON-RPC：握手、ping</a:t>
            </a:r>
          </a:p>
          <a:p xmlns:a="http://schemas.openxmlformats.org/drawingml/2006/main">
            <a:pPr>
              <a:defRPr sz="172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tools/list、tools/call（4个工具）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88A077-0D01-43ED-9D4B-CED80486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33775"/>
            <a:ext cx="483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E5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8CE5D0"/>
                </a:solidFill>
                <a:latin typeface="Hiragino Sans GB"/>
                <a:ea typeface="Hiragino Sans GB"/>
                <a:cs typeface="Hiragino Sans GB"/>
              </a:rPr>
              <a:t>A2A 0.3.0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F99C3-CE31-455C-96A9-2E74D895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67175"/>
            <a:ext cx="4838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Agent Card、message/send、tasks/get</a:t>
            </a:r>
          </a:p>
          <a:p xmlns:a="http://schemas.openxmlformats.org/drawingml/2006/main">
            <a:pPr>
              <a:defRPr sz="1650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同步文本摘要与持久化任务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BCA69-B13C-4819-A2CB-64C3BEE4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测试记录：真实stdio／HTTP鉴权、握手与错误、任务生命周期／归属／持久化。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E1915-1B9A-492B-8188-E34FA394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6D2C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B6D2CE"/>
                </a:solidFill>
                <a:latin typeface="Hiragino Sans GB"/>
                <a:ea typeface="Hiragino Sans GB"/>
                <a:cs typeface="Hiragino Sans GB"/>
              </a:rPr>
              <a:t>MCP未覆盖：resources、prompts、HTTP、OAuth等，完整清单见讲稿。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1BAFF-21A7-4459-AEE2-8E6E50ED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6D2C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B6D2CE"/>
                </a:solidFill>
                <a:latin typeface="Hiragino Sans GB"/>
                <a:ea typeface="Hiragino Sans GB"/>
                <a:cs typeface="Hiragino Sans GB"/>
              </a:rPr>
              <a:t>A2A未覆盖：流式、取消、推送、异步、多轮上下文等，未做官方SDK互通。</a:t>
            </a:r>
          </a:p>
        </p:txBody>
      </p:sp>
    </p:spTree>
    <p:extLst>
      <p:ext uri="{BB962C8B-B14F-4D97-AF65-F5344CB8AC3E}">
        <p14:creationId xmlns:p14="http://schemas.microsoft.com/office/powerpoint/2010/main" val="1189390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591DF-520B-4A65-B4F2-06807AD3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员工掌握分享范围，企业获得业务结果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4495B-88C7-417B-B56A-148A59DE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27686-9D4D-4F11-ADD2-07741ED9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287E7-F130-460F-B3F5-660CDF10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≥5人是产品阈值，不能替代合法处理依据、访问控制与匿名化评估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437B7-2693-4BE5-99D4-D7174AA1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个人可见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22875-439B-4ED2-B777-BB3D7840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4991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任务原文、资料与私人回顾</a:t>
            </a:r>
          </a:p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本人选择范围，可撤回和删除。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EC125-C133-40CE-B339-FB09E0BD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3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企业可见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7EB40-124D-42BD-B016-55F913D2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71725"/>
            <a:ext cx="4838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逐项批准分享的业务结果</a:t>
            </a:r>
          </a:p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≥5名授权参与者的固定周期聚合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E9185-0A3F-4652-A933-064964A4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7D1E8-D81A-4DAD-BA06-7D7A65FF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禁止个人钻取与敏感切片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59276-F953-4390-85BD-22787F77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无秘密录音摄像、键盘记录或情绪／生理员工评分。</a:t>
            </a:r>
          </a:p>
          <a:p xmlns:a="http://schemas.openxmlformats.org/drawingml/2006/main">
            <a:pPr>
              <a:defRPr sz="202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无自动雇佣决策，单次雇佣同意不等于全部共享。</a:t>
            </a:r>
          </a:p>
        </p:txBody>
      </p:sp>
    </p:spTree>
    <p:extLst>
      <p:ext uri="{BB962C8B-B14F-4D97-AF65-F5344CB8AC3E}">
        <p14:creationId xmlns:p14="http://schemas.microsoft.com/office/powerpoint/2010/main" val="6514459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0EB6E-C716-4F5C-985C-4DC90369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首发只制造299元核心版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D8AFA-328B-4F26-940A-6D182927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9B9D4-43C3-4CD8-AD99-40F362EF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CA4B3-25AC-4BA0-A8D1-8CDC1675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99/199/499/899为定价验证及后续方案。1499/3999仅生态探索，不收预售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5934075"/>
                <a:gridCol w="3400425"/>
              </a:tblGrid>
              <a:tr h="650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AFCF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目标含税价</a:t>
                      </a:r>
                    </a:p>
                  </a:txBody>
                  <a:tcPr marL="152400" marR="114300" marT="114300" marB="7620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AFCF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交付边界</a:t>
                      </a:r>
                    </a:p>
                  </a:txBody>
                  <a:tcPr marL="152400" marR="114300" marT="114300" marB="7620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AFCF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推出条件</a:t>
                      </a:r>
                    </a:p>
                  </a:txBody>
                  <a:tcPr marL="152400" marR="114300" marT="114300" marB="76200" anchor="ctr">
                    <a:solidFill>
                      <a:srgbClr val="102D3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99元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普通透明有线鼠标，无伴随AI模块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有独立需求、OEM稳定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199元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灯＋触摸，无屏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共板降本与299元留存成立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299元</a:t>
                      </a:r>
                    </a:p>
                  </a:txBody>
                  <a:tcPr marL="152400" marR="114300" marT="114300" marB="76200" anchor="ctr">
                    <a:solidFill>
                      <a:srgbClr val="E9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灯＋触摸＋小屏，离线规则可用</a:t>
                      </a:r>
                    </a:p>
                  </a:txBody>
                  <a:tcPr marL="152400" marR="114300" marT="114300" marB="76200" anchor="ctr">
                    <a:solidFill>
                      <a:srgbClr val="E9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首发唯一制造SKU</a:t>
                      </a:r>
                    </a:p>
                  </a:txBody>
                  <a:tcPr marL="152400" marR="114300" marT="114300" marB="76200" anchor="ctr">
                    <a:solidFill>
                      <a:srgbClr val="E9F4F0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499元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核心版＋底座／套件＋3个月限定服务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复购与推荐成立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899元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核心设备＋单席试点配置与限定支持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企业授权和安全验收通过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8828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B5AD5-227A-463F-AD4B-FCF3B47F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Microduck与Violoop提供不同路线的启发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CF055-A800-4FE6-AFBC-D585E502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B7011-34F6-4CB1-9A57-F6D79F6B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2175D-326D-475B-8D9E-19925EDC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研究快照日期2026-09-06。官网主张不等于独立测试，GitHub stars不等于销量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9775"/>
                <a:gridCol w="4267200"/>
                <a:gridCol w="4695825"/>
              </a:tblGrid>
              <a:tr h="97393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AFCF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对象</a:t>
                      </a:r>
                    </a:p>
                  </a:txBody>
                  <a:tcPr marL="152400" marR="114300" marT="114300" marB="7620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AFCF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可确认的公开事实</a:t>
                      </a:r>
                    </a:p>
                  </a:txBody>
                  <a:tcPr marL="152400" marR="114300" marT="114300" marB="7620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AFCF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对灵伴的启发与边界</a:t>
                      </a:r>
                    </a:p>
                  </a:txBody>
                  <a:tcPr marL="152400" marR="114300" marT="114300" marB="76200" anchor="ctr">
                    <a:solidFill>
                      <a:srgbClr val="102D3C"/>
                    </a:solidFill>
                  </a:tcPr>
                </a:tc>
              </a:tr>
              <a:tr h="9739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Microduck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25cm双足机器人，15个舵机</a:t>
                      </a:r>
                    </a:p>
                    <a:p>
                      <a:r>
                        <a:rPr sz="180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预售价399美元，税运另计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可见人格、可维护架构</a:t>
                      </a:r>
                    </a:p>
                    <a:p>
                      <a:r>
                        <a:rPr sz="180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成交／订单／众筹成绩未证实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9739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Violoop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官网预发布预约</a:t>
                      </a:r>
                    </a:p>
                    <a:p>
                      <a:r>
                        <a:rPr sz="180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399美元起，优惠后369美元起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独立算力与实体确认路线</a:t>
                      </a:r>
                    </a:p>
                    <a:p>
                      <a:r>
                        <a:rPr sz="180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交付／销量／性能未独立验证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9739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灵伴方案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电脑Agent＋成熟HID底座</a:t>
                      </a:r>
                    </a:p>
                    <a:p>
                      <a:r>
                        <a:rPr sz="180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ESP32-S3仅负责交互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降低首期硬件复杂度</a:t>
                      </a:r>
                    </a:p>
                    <a:p>
                      <a:r>
                        <a:rPr sz="180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依赖本地安装与电脑在线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049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87171-0604-434F-B4E4-CC9CCE7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市场测算从可触达名单开始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94840-4FFA-4373-93EB-ABB8C22F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26536-3EA4-4D86-962B-CF51A879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BEC55-03CF-4CA6-92FD-315A6723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名单规模与转化率均为计划假设，尚无客户、订单或收入实绩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3820A-6BC1-4042-8784-D2188905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200名个人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A6742-B6BF-4B46-9194-DEB4DA06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52725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×20%试用转化假设＝40人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B7E73-D048-4274-8516-A711DE4C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2880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30个小团队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A60EA-02D0-42B1-879C-B5959906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752725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×10%试用转化假设＝3个团队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B7A66-51C2-43D2-8E33-B3DD4B23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F4A1A-0081-4E87-9662-CCCDDAC5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先完成20名自愿用户研究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EC088-6068-454A-9CE9-4A40CACD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76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再争取3个10–30人的设计伙伴团队。</a:t>
            </a:r>
          </a:p>
          <a:p xmlns:a="http://schemas.openxmlformats.org/drawingml/2006/main">
            <a:pPr>
              <a:defRPr sz="210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下一层规模按适配工位、安装权限与预算接受度逐项调查。</a:t>
            </a:r>
          </a:p>
        </p:txBody>
      </p:sp>
    </p:spTree>
    <p:extLst>
      <p:ext uri="{BB962C8B-B14F-4D97-AF65-F5344CB8AC3E}">
        <p14:creationId xmlns:p14="http://schemas.microsoft.com/office/powerpoint/2010/main" val="10123025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8D430-48BB-4154-AC90-0E3B12BC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收入先来自硬件，服务先验证付费意愿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2155F-E06F-4B16-9941-30EA8EFC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7BEFC-0494-4CBE-94D6-7450E0B4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38569-B890-4093-BC05-A2A1E880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全部为假设。财务模型暂不计订阅收入，融资不计营业收入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CDE94-1E3D-4C26-9B63-648392C1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905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29.9万元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1A530-37A9-4A0B-AD69-5036B8DA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956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1000台 × 299元</a:t>
            </a:r>
          </a:p>
          <a:p xmlns:a="http://schemas.openxmlformats.org/drawingml/2006/main">
            <a:pPr>
              <a:defRPr sz="22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含税商品流水示例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AE14F-E051-4E71-9FEF-809899A3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924050"/>
            <a:ext cx="481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个人19元／月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38153-1546-4F4F-B6ED-BEB0219E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47925"/>
            <a:ext cx="4810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服务访谈价，先实测调用成本与留存。</a:t>
            </a:r>
          </a:p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100名付费者对应2.28万元年化订阅毛额。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54836-CE48-45BF-8EC7-617C80E4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8481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团队39元／席／月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9034B-46D3-419C-AC5E-67487701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7197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服务访谈价，另行约定授权、</a:t>
            </a:r>
          </a:p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模型额度、实施与支持边界。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41EA1-8054-4EE3-8EA2-D9A04659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561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直销试用案例积累后，再扩大渠道。</a:t>
            </a:r>
          </a:p>
        </p:txBody>
      </p:sp>
    </p:spTree>
    <p:extLst>
      <p:ext uri="{BB962C8B-B14F-4D97-AF65-F5344CB8AC3E}">
        <p14:creationId xmlns:p14="http://schemas.microsoft.com/office/powerpoint/2010/main" val="2837507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AE795-1F5A-4078-8ECF-F0AE12F1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299元版的单位现金贡献估算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01371-401D-4E6A-A6A9-4A8083EB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C40AD-E2E3-4AEA-9C2B-E44898A5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0FB89-4073-4349-8C42-7E59D607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1000台规模估算，108元含10元损耗预留，良率未验证。税款按13%销项预留、不抵进项。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861BD-0C2B-4D68-B0A1-648EC85B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66.51元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A33D5-AAAD-49B0-8C36-BC1DBD4A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051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每台现金贡献估计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91718-207C-4E70-ACC1-2BE3168F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671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22.24%  贡献率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95CD8-9546-4C48-9F0D-12EB55C3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29150"/>
            <a:ext cx="50196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约827台／月</a:t>
            </a:r>
          </a:p>
          <a:p xmlns:a="http://schemas.openxmlformats.org/drawingml/2006/main">
            <a:pPr>
              <a:defRPr sz="210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覆盖5.5万元月固定支出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52BF1-3384-494F-B571-6F52B934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05475"/>
            <a:ext cx="5095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小批成本170元时，贡献仅约3.27元。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867400" y="1762125"/>
          <a:ext xmlns:a="http://schemas.openxmlformats.org/drawingml/2006/main" cx="57150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76700"/>
                <a:gridCol w="1638300"/>
              </a:tblGrid>
              <a:tr h="57966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AFCF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售价与扣项</a:t>
                      </a:r>
                    </a:p>
                  </a:txBody>
                  <a:tcPr marL="152400" marR="114300" marT="114300" marB="7620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AFCF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元／台</a:t>
                      </a:r>
                    </a:p>
                  </a:txBody>
                  <a:tcPr marL="152400" marR="114300" marT="114300" marB="76200" anchor="ctr">
                    <a:solidFill>
                      <a:srgbClr val="102D3C"/>
                    </a:solidFill>
                  </a:tcPr>
                </a:tc>
              </a:tr>
              <a:tr h="5796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含税目标售价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299.00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5796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制造完整成本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108.00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5796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税款及退款预留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46.36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5796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渠道、履约、质保、支持等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33.13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5796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获客成本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45.00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57966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剩余现金贡献</a:t>
                      </a:r>
                    </a:p>
                  </a:txBody>
                  <a:tcPr marL="152400" marR="114300" marT="114300" marB="76200" anchor="ctr">
                    <a:solidFill>
                      <a:srgbClr val="E9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66.51</a:t>
                      </a:r>
                    </a:p>
                  </a:txBody>
                  <a:tcPr marL="152400" marR="114300" marT="114300" marB="76200" anchor="ctr">
                    <a:solidFill>
                      <a:srgbClr val="E9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429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17FD1-B40C-4658-A8FD-BA024140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7天样机与30天试销的交付门槛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6E8DD-C626-4BB2-A24C-2A74A301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7D38C-C78B-44E3-ACEB-2E00D680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6CE93-5236-4DFA-8D92-31ED682A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计划目标，尚无完成证据。30天试销受硬件、安全合规、用户与采购验收门槛约束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22A2E-2582-4CD0-AD34-DB15ED6D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495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D1–D7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88D4E-6A5D-41C0-9DA0-FF8C354D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495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5台演示原型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1FBD1-83DE-4A3F-84AB-DCAC2B25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34956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HID独立可靠，授权链完整</a:t>
            </a:r>
          </a:p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预算上限估算1.5万元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CF749-FB4E-4165-A916-6CC74375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85950"/>
            <a:ext cx="3495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D8–D30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FCFD0-A8A4-4773-8654-F02B9D28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90825"/>
            <a:ext cx="3495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20人试用＋10台EVT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429DB-5AE3-4FAF-8D05-5C937191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867150"/>
            <a:ext cx="34956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安全合规评估与采购确认</a:t>
            </a:r>
          </a:p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累计12万元NRE内分批释放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EFE29-D6F9-4CB1-87CE-110DAA98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3495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达标后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A2E47-5B0B-4867-A6FD-D08C995B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90825"/>
            <a:ext cx="3495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50–100台受控交付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693EC-1A76-4088-93EC-05A6C466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34956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一次合格率目标≥95%</a:t>
            </a:r>
          </a:p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未达门槛顺延至M2–M3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3B556-4B55-4D24-AA62-4982E3B2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试用门槛：D7仍启用≥60%，每周“有帮助”提醒用户≥50%。</a:t>
            </a:r>
          </a:p>
        </p:txBody>
      </p:sp>
    </p:spTree>
    <p:extLst>
      <p:ext uri="{BB962C8B-B14F-4D97-AF65-F5344CB8AC3E}">
        <p14:creationId xmlns:p14="http://schemas.microsoft.com/office/powerpoint/2010/main" val="10085781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3E8701-EDDC-47E4-9663-6B8DE118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半年生态，按留存与交付证据推进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7554B-02C5-4CCA-8A3D-0D3780E3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33BDE-52C1-4661-A92F-05DED492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B221A-CC71-4D26-8763-9F3335E9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半年路线为目标，财务基准M1–M6累计910台。1499/3999元生态概念不计收入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9A172-54BE-4071-A501-B519E0AE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M1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404EA-992F-4C83-B549-9BC34DC3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任务闭环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2D4FB-E7E8-4A1B-ACB4-7FA43D1F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授权、证据、审批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9B8EB-5CF1-4721-A734-EC5894BB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383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M2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B6AB8-4E23-4DF7-8294-913B7FC4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28875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受控交付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A7CFB-0854-4A75-AFEC-A72C933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99085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质量与售后记录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BFD61-6EF2-4EB7-B1BB-CB625FFC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383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M3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ADE22-1798-480C-B6B6-D5AB7829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留存决策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32525-B663-4592-BA7C-7EC61240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9085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继续鼠标或转软件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3ABC5-8B02-453C-B8E9-664A4255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M4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51775-E2F6-402B-9FAF-D7D1E520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开放交互协议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32D79-068B-4187-A70D-4882A656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一个参考配件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A848F-A36C-43C3-89D2-56D7CF70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9528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M5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51764-63FB-4AE5-9FBA-6F7FDFB3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543425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少量开发者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00063-1853-4C72-92AA-0342C66E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10540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审核后的只读插件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ABDAA-1EF7-432D-B00D-FD805581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M6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5C505-9117-412B-B161-37105B13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43425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下一款立项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F2FC5D-51DF-435B-BE94-8433696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无屏版或桌面灯</a:t>
            </a:r>
          </a:p>
        </p:txBody>
      </p:sp>
    </p:spTree>
    <p:extLst>
      <p:ext uri="{BB962C8B-B14F-4D97-AF65-F5344CB8AC3E}">
        <p14:creationId xmlns:p14="http://schemas.microsoft.com/office/powerpoint/2010/main" val="16854680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94B45-6475-415A-9EA6-49351E15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待招团队与外部专业能力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59812-2069-44F6-963E-58D55439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CA4F8-30C4-44DD-9DD6-89972318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D74CA-325F-4CAA-AE81-1C891562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岗位与预算均为计划，未提供可核验的成员姓名、履历或招聘完成证据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6572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AFCF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计划岗位</a:t>
                      </a:r>
                    </a:p>
                  </a:txBody>
                  <a:tcPr marL="152400" marR="114300" marT="114300" marB="7620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AFCF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优先交付责任</a:t>
                      </a:r>
                    </a:p>
                  </a:txBody>
                  <a:tcPr marL="152400" marR="114300" marT="114300" marB="76200" anchor="ctr">
                    <a:solidFill>
                      <a:srgbClr val="102D3C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产品／商业负责人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用户研究、定价验证、设计伙伴与现金纪律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本地Agent工程师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任务证据、权限审批、可恢复执行与发布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硬件／供应链负责人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HID独立链路、结构装配、质量与交付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按次外部专业能力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工业设计、测试、隐私法律与合规认证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1239D-A98E-4467-B5FF-44CE5724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精简验证模型：月固定支出5.5万元，其中人员4.2万元。</a:t>
            </a:r>
          </a:p>
        </p:txBody>
      </p:sp>
    </p:spTree>
    <p:extLst>
      <p:ext uri="{BB962C8B-B14F-4D97-AF65-F5344CB8AC3E}">
        <p14:creationId xmlns:p14="http://schemas.microsoft.com/office/powerpoint/2010/main" val="16994351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7CC2B-E823-4AF3-A592-F0417B00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建议融资500万元，按证据分段投入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09BEA-7778-45DD-B326-CD7FCAFB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38332-2200-421A-810C-0CC167C1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623E3-AC1C-4795-9BB1-95EC667D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500万元及用途为融资建议，未获承诺。60万元精简验证模型为独立情景，不能推算500万元跑道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8FAC8-C102-41A8-9900-1E155AD2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5029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95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500万元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D0B5B-43B8-426C-B5D2-87EB61C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14650"/>
            <a:ext cx="514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建议融资目标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FD1D5-15A0-42B8-A53B-CA8AE58F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5285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按原型、需求、合规和</a:t>
            </a:r>
          </a:p>
          <a:p xmlns:a="http://schemas.openxmlformats.org/drawingml/2006/main">
            <a:pPr>
              <a:defRPr sz="25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交付证据释放预算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ED544-8E7B-4FAB-AC8E-623C43C6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72075"/>
            <a:ext cx="4953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60万元精简模型（10个月）</a:t>
            </a:r>
          </a:p>
          <a:p xmlns:a="http://schemas.openxmlformats.org/drawingml/2006/main">
            <a:pPr>
              <a:defRPr sz="172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期末现金6.05万元，累计亏损29.02万元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867400" y="1752600"/>
          <a:ext xmlns:a="http://schemas.openxmlformats.org/drawingml/2006/main" cx="57150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1133475"/>
                <a:gridCol w="1104900"/>
              </a:tblGrid>
              <a:tr h="59599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AFCF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建议用途</a:t>
                      </a:r>
                    </a:p>
                  </a:txBody>
                  <a:tcPr marL="152400" marR="114300" marT="114300" marB="7620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AFCF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万元</a:t>
                      </a:r>
                    </a:p>
                  </a:txBody>
                  <a:tcPr marL="152400" marR="114300" marT="114300" marB="7620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AFCF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占比</a:t>
                      </a:r>
                    </a:p>
                  </a:txBody>
                  <a:tcPr marL="152400" marR="114300" marT="114300" marB="76200" anchor="ctr">
                    <a:solidFill>
                      <a:srgbClr val="102D3C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产品与Agent研发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200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40%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硬件试制与合规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100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20%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用户验证与设计伙伴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60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12%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量产准备与周转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80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16%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预备金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60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12%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合计</a:t>
                      </a:r>
                    </a:p>
                  </a:txBody>
                  <a:tcPr marL="152400" marR="114300" marT="114300" marB="76200" anchor="ctr">
                    <a:solidFill>
                      <a:srgbClr val="E9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500</a:t>
                      </a:r>
                    </a:p>
                  </a:txBody>
                  <a:tcPr marL="152400" marR="114300" marT="114300" marB="76200" anchor="ctr">
                    <a:solidFill>
                      <a:srgbClr val="E9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100%</a:t>
                      </a:r>
                    </a:p>
                  </a:txBody>
                  <a:tcPr marL="152400" marR="114300" marT="114300" marB="76200" anchor="ctr">
                    <a:solidFill>
                      <a:srgbClr val="E9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3806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27B75-6A92-40DC-B479-3C1CF4DC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02D3C"/>
                </a:solidFill>
                <a:latin typeface="Hiragino Sans GB"/>
                <a:ea typeface="Hiragino Sans GB"/>
                <a:cs typeface="Hiragino Sans GB"/>
              </a:rPr>
              <a:t>风险对应明确的停止条件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9541C-F1C5-4266-B264-FBCAA507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FC0BC-DD36-4626-BDFD-B0B13582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D7C64-42A0-41AD-A007-947931FA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47078"/>
                </a:solidFill>
                <a:latin typeface="Hiragino Sans GB"/>
                <a:ea typeface="Hiragino Sans GB"/>
                <a:cs typeface="Hiragino Sans GB"/>
              </a:rPr>
              <a:t>阈值是管理规则，尚无达到或触发的实际测试记录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3514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70294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AFCF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风险</a:t>
                      </a:r>
                    </a:p>
                  </a:txBody>
                  <a:tcPr marL="152400" marR="114300" marT="114300" marB="7620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AFCF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停止或纠偏条件</a:t>
                      </a:r>
                    </a:p>
                  </a:txBody>
                  <a:tcPr marL="152400" marR="114300" marT="114300" marB="76200" anchor="ctr">
                    <a:solidFill>
                      <a:srgbClr val="102D3C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用户不持续启用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D7仍启用&lt;40%，两轮改进无效，停止备货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质量与售后失控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连续两批退款&gt;10%或制造一次良率&lt;90%，冻结新批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授权与信任受损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发现未经授权外传／动作，立即停用并修复通知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现金与库存压力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未来90天现金预测转负，暂停非必要NRE和营销</a:t>
                      </a:r>
                    </a:p>
                  </a:txBody>
                  <a:tcPr marL="152400" marR="114300" marT="114300" marB="76200" anchor="ctr">
                    <a:solidFill>
                      <a:srgbClr val="FAFC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FCA93-A063-479C-A8DB-2AC97200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68E80"/>
                </a:solidFill>
                <a:latin typeface="Hiragino Sans GB"/>
                <a:ea typeface="Hiragino Sans GB"/>
                <a:cs typeface="Hiragino Sans GB"/>
              </a:rPr>
              <a:t>可累积资产：可信授权、任务证据质量、低打扰策略与可靠交付。</a:t>
            </a:r>
          </a:p>
        </p:txBody>
      </p:sp>
    </p:spTree>
    <p:extLst>
      <p:ext uri="{BB962C8B-B14F-4D97-AF65-F5344CB8AC3E}">
        <p14:creationId xmlns:p14="http://schemas.microsoft.com/office/powerpoint/2010/main" val="10178443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99AC9-1CDD-445B-A37D-22AD43CC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C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A5C4C6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3F051-3FE4-46B6-8C12-6D272AC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D2C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B6D2CE"/>
                </a:solidFill>
                <a:latin typeface="Hiragino Sans GB"/>
                <a:ea typeface="Hiragino Sans GB"/>
                <a:cs typeface="Hiragino Sans GB"/>
              </a:rPr>
              <a:t>10个月1亿美元退出仅为目标情景，无估值依据或收购承诺，不进入财务预测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FB24A-0103-44E8-8F14-4F405300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839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950" b="1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让下一步，更容易发生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4A159-F018-4806-A202-0DF079D3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107632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8CE5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8CE5D0"/>
                </a:solidFill>
                <a:latin typeface="Hiragino Sans GB"/>
                <a:ea typeface="Hiragino Sans GB"/>
                <a:cs typeface="Hiragino Sans GB"/>
              </a:rPr>
              <a:t>员工先受益</a:t>
            </a:r>
          </a:p>
          <a:p xmlns:a="http://schemas.openxmlformats.org/drawingml/2006/main">
            <a:pPr>
              <a:defRPr sz="3225" b="1">
                <a:solidFill>
                  <a:srgbClr val="8CE5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8CE5D0"/>
                </a:solidFill>
                <a:latin typeface="Hiragino Sans GB"/>
                <a:ea typeface="Hiragino Sans GB"/>
                <a:cs typeface="Hiragino Sans GB"/>
              </a:rPr>
              <a:t>团队获得本人批准的业务结果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C35EC-A3DA-41B8-ADBB-5373CD12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FAFCFB"/>
                </a:solidFill>
                <a:latin typeface="Hiragino Sans GB"/>
                <a:ea typeface="Hiragino Sans GB"/>
                <a:cs typeface="Hiragino Sans GB"/>
              </a:rPr>
              <a:t>建议融资500万元，验证299元晶鼠的持续任务价值。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32C37-05FE-41E1-AC91-D583889E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340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D2C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B6D2CE"/>
                </a:solidFill>
                <a:latin typeface="Hiragino Sans GB"/>
                <a:ea typeface="Hiragino Sans GB"/>
                <a:cs typeface="Hiragino Sans GB"/>
              </a:rPr>
              <a:t>第10个月战略检查点：持续经营、合作或有序停止。</a:t>
            </a:r>
          </a:p>
        </p:txBody>
      </p:sp>
    </p:spTree>
    <p:extLst>
      <p:ext uri="{BB962C8B-B14F-4D97-AF65-F5344CB8AC3E}">
        <p14:creationId xmlns:p14="http://schemas.microsoft.com/office/powerpoint/2010/main" val="4859112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2026-09-05T18:12:49.4750000Z</dcterms:created>
  <dcterms:modified xsi:type="dcterms:W3CDTF">2026-09-05T18:12:49.4750000Z</dcterms:modified>
</coreProperties>
</file>